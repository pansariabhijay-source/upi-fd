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6858000" cy="9144000"/>
  <p:embeddedFontLst>
    <p:embeddedFont>
      <p:font typeface="Roboto Mono" panose="020B060402020202020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6" d="100"/>
          <a:sy n="116" d="100"/>
        </p:scale>
        <p:origin x="490" y="8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118e8325d1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118e8325d1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118e8325d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118e8325d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118e8325d1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118e8325d1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118e8325d1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118e8325d1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1579674a7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1579674a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1579674a7f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1579674a7f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1579674a7f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1579674a7f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1579674a7f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1579674a7f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1579674a7f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1579674a7f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118e8325d1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118e8325d1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118e8325d1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118e8325d1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118e8325d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118e8325d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118e8325d1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118e8325d1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118e8325d1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118e8325d1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118e8325d1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118e8325d1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118e8325d1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118e8325d1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118e8325d1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118e8325d1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118e8325d1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118e8325d1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118e8325d1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118e8325d1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118e8325d1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118e8325d1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118e8325d1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118e8325d1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118e8325d1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118e8325d1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118e8325d1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118e8325d1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GB"/>
              <a:t>UPI FRAUD DETECTION USING MACHINE LEARNING</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US" dirty="0" smtClean="0"/>
              <a:t>-Abhijay Pansari</a:t>
            </a:r>
          </a:p>
          <a:p>
            <a:pPr marL="0" lvl="0" indent="0" algn="ctr" rtl="0">
              <a:spcBef>
                <a:spcPts val="0"/>
              </a:spcBef>
              <a:spcAft>
                <a:spcPts val="0"/>
              </a:spcAft>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61" name="Google Shape;61;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62" name="Google Shape;62;p14"/>
          <p:cNvPicPr preferRelativeResize="0"/>
          <p:nvPr/>
        </p:nvPicPr>
        <p:blipFill rotWithShape="1">
          <a:blip r:embed="rId3">
            <a:alphaModFix/>
          </a:blip>
          <a:srcRect t="3784" b="10796"/>
          <a:stretch/>
        </p:blipFill>
        <p:spPr>
          <a:xfrm>
            <a:off x="0" y="164775"/>
            <a:ext cx="9144000" cy="4393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Introduction to UPI Fraud Detection</a:t>
            </a:r>
            <a:endParaRPr/>
          </a:p>
        </p:txBody>
      </p:sp>
      <p:sp>
        <p:nvSpPr>
          <p:cNvPr id="68" name="Google Shape;68;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23850" algn="l" rtl="0">
              <a:spcBef>
                <a:spcPts val="1200"/>
              </a:spcBef>
              <a:spcAft>
                <a:spcPts val="0"/>
              </a:spcAft>
              <a:buClr>
                <a:schemeClr val="dk1"/>
              </a:buClr>
              <a:buSzPts val="1500"/>
              <a:buChar char="●"/>
            </a:pPr>
            <a:r>
              <a:rPr lang="en-GB" sz="1500" b="1">
                <a:solidFill>
                  <a:schemeClr val="dk1"/>
                </a:solidFill>
              </a:rPr>
              <a:t>What is UPI?</a:t>
            </a:r>
            <a:endParaRPr sz="1500" b="1">
              <a:solidFill>
                <a:schemeClr val="dk1"/>
              </a:solidFill>
            </a:endParaRPr>
          </a:p>
          <a:p>
            <a:pPr marL="914400" lvl="1" indent="-323850" algn="l" rtl="0">
              <a:spcBef>
                <a:spcPts val="0"/>
              </a:spcBef>
              <a:spcAft>
                <a:spcPts val="0"/>
              </a:spcAft>
              <a:buClr>
                <a:schemeClr val="dk1"/>
              </a:buClr>
              <a:buSzPts val="1500"/>
              <a:buChar char="○"/>
            </a:pPr>
            <a:r>
              <a:rPr lang="en-GB" sz="1500">
                <a:solidFill>
                  <a:schemeClr val="dk1"/>
                </a:solidFill>
              </a:rPr>
              <a:t>A real-time payment system in India enabling instant money transfers.</a:t>
            </a:r>
            <a:endParaRPr sz="1500">
              <a:solidFill>
                <a:schemeClr val="dk1"/>
              </a:solidFill>
            </a:endParaRPr>
          </a:p>
          <a:p>
            <a:pPr marL="457200" lvl="0" indent="-323850" algn="l" rtl="0">
              <a:spcBef>
                <a:spcPts val="0"/>
              </a:spcBef>
              <a:spcAft>
                <a:spcPts val="0"/>
              </a:spcAft>
              <a:buClr>
                <a:schemeClr val="dk1"/>
              </a:buClr>
              <a:buSzPts val="1500"/>
              <a:buChar char="●"/>
            </a:pPr>
            <a:r>
              <a:rPr lang="en-GB" sz="1500" b="1">
                <a:solidFill>
                  <a:schemeClr val="dk1"/>
                </a:solidFill>
              </a:rPr>
              <a:t>Why UPI Fraud Detection is Important?</a:t>
            </a:r>
            <a:endParaRPr sz="1500" b="1">
              <a:solidFill>
                <a:schemeClr val="dk1"/>
              </a:solidFill>
            </a:endParaRPr>
          </a:p>
          <a:p>
            <a:pPr marL="914400" lvl="1" indent="-323850" algn="l" rtl="0">
              <a:spcBef>
                <a:spcPts val="0"/>
              </a:spcBef>
              <a:spcAft>
                <a:spcPts val="0"/>
              </a:spcAft>
              <a:buClr>
                <a:schemeClr val="dk1"/>
              </a:buClr>
              <a:buSzPts val="1500"/>
              <a:buChar char="○"/>
            </a:pPr>
            <a:r>
              <a:rPr lang="en-GB" sz="1500">
                <a:solidFill>
                  <a:schemeClr val="dk1"/>
                </a:solidFill>
              </a:rPr>
              <a:t>Growth in digital payments has increased the risk of fraud.</a:t>
            </a:r>
            <a:endParaRPr sz="1500">
              <a:solidFill>
                <a:schemeClr val="dk1"/>
              </a:solidFill>
            </a:endParaRPr>
          </a:p>
          <a:p>
            <a:pPr marL="914400" lvl="1" indent="-323850" algn="l" rtl="0">
              <a:spcBef>
                <a:spcPts val="0"/>
              </a:spcBef>
              <a:spcAft>
                <a:spcPts val="0"/>
              </a:spcAft>
              <a:buClr>
                <a:schemeClr val="dk1"/>
              </a:buClr>
              <a:buSzPts val="1500"/>
              <a:buChar char="○"/>
            </a:pPr>
            <a:r>
              <a:rPr lang="en-GB" sz="1500">
                <a:solidFill>
                  <a:schemeClr val="dk1"/>
                </a:solidFill>
              </a:rPr>
              <a:t>Need for effective fraud detection to protect users and build trust.</a:t>
            </a:r>
            <a:endParaRPr sz="1500">
              <a:solidFill>
                <a:schemeClr val="dk1"/>
              </a:solidFill>
            </a:endParaRPr>
          </a:p>
          <a:p>
            <a:pPr marL="0" lvl="0" indent="0" algn="l" rtl="0">
              <a:spcBef>
                <a:spcPts val="1200"/>
              </a:spcBef>
              <a:spcAft>
                <a:spcPts val="1200"/>
              </a:spcAft>
              <a:buNone/>
            </a:pP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Introduction to UPI Fraud Detection</a:t>
            </a:r>
            <a:endParaRPr/>
          </a:p>
        </p:txBody>
      </p:sp>
      <p:sp>
        <p:nvSpPr>
          <p:cNvPr id="74" name="Google Shape;74;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298450" algn="l" rtl="0">
              <a:spcBef>
                <a:spcPts val="1200"/>
              </a:spcBef>
              <a:spcAft>
                <a:spcPts val="0"/>
              </a:spcAft>
              <a:buClr>
                <a:schemeClr val="dk1"/>
              </a:buClr>
              <a:buSzPts val="1100"/>
              <a:buChar char="●"/>
            </a:pPr>
            <a:r>
              <a:rPr lang="en-GB"/>
              <a:t>UPI is a popular real-time payment system in India, essential for its fast transactions but prone to fraud.</a:t>
            </a:r>
            <a:endParaRPr/>
          </a:p>
          <a:p>
            <a:pPr marL="457200" lvl="0" indent="-298450" algn="l" rtl="0">
              <a:spcBef>
                <a:spcPts val="0"/>
              </a:spcBef>
              <a:spcAft>
                <a:spcPts val="0"/>
              </a:spcAft>
              <a:buClr>
                <a:schemeClr val="dk1"/>
              </a:buClr>
              <a:buSzPts val="1100"/>
              <a:buChar char="●"/>
            </a:pPr>
            <a:r>
              <a:rPr lang="en-GB"/>
              <a:t>With digital payments rising, fraud detection is crucial to protect users and maintain system integrity.</a:t>
            </a:r>
            <a:endParaRPr/>
          </a:p>
          <a:p>
            <a:pPr marL="457200" lvl="0" indent="-298450" algn="l" rtl="0">
              <a:spcBef>
                <a:spcPts val="0"/>
              </a:spcBef>
              <a:spcAft>
                <a:spcPts val="0"/>
              </a:spcAft>
              <a:buClr>
                <a:schemeClr val="dk1"/>
              </a:buClr>
              <a:buSzPts val="1100"/>
              <a:buChar char="●"/>
            </a:pPr>
            <a:r>
              <a:rPr lang="en-GB"/>
              <a:t>This project uses machine learning to detect UPI fraud, with models that identify fraud patterns to minimize false positives and maximize accuracy.</a:t>
            </a:r>
            <a:endParaRPr/>
          </a:p>
          <a:p>
            <a:pPr marL="0" lvl="0" indent="0" algn="l" rtl="0">
              <a:spcBef>
                <a:spcPts val="1200"/>
              </a:spcBef>
              <a:spcAft>
                <a:spcPts val="120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Project Objectives</a:t>
            </a:r>
            <a:endParaRPr/>
          </a:p>
        </p:txBody>
      </p:sp>
      <p:sp>
        <p:nvSpPr>
          <p:cNvPr id="80" name="Google Shape;80;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Char char="●"/>
            </a:pPr>
            <a:r>
              <a:rPr lang="en-GB" sz="1600"/>
              <a:t>Our goal is to detect UPI fraud in real-time with high accuracy, minimizing false positives to avoid blocking legitimate transactions.</a:t>
            </a:r>
            <a:endParaRPr sz="1600"/>
          </a:p>
          <a:p>
            <a:pPr marL="457200" lvl="0" indent="-330200" algn="l" rtl="0">
              <a:spcBef>
                <a:spcPts val="0"/>
              </a:spcBef>
              <a:spcAft>
                <a:spcPts val="0"/>
              </a:spcAft>
              <a:buSzPts val="1600"/>
              <a:buChar char="●"/>
            </a:pPr>
            <a:r>
              <a:rPr lang="en-GB" sz="1600"/>
              <a:t>Key metrics include Accuracy, Precision, Recall, F1 Score, and ROC-AUC, each important for evaluating how well our system balances fraud detection and user experience.</a:t>
            </a:r>
            <a:endParaRPr sz="1600"/>
          </a:p>
          <a:p>
            <a:pPr marL="457200" lvl="0" indent="0" algn="l" rtl="0">
              <a:spcBef>
                <a:spcPts val="1200"/>
              </a:spcBef>
              <a:spcAft>
                <a:spcPts val="1200"/>
              </a:spcAft>
              <a:buNone/>
            </a:pP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Existing System</a:t>
            </a:r>
            <a:endParaRPr/>
          </a:p>
        </p:txBody>
      </p:sp>
      <p:sp>
        <p:nvSpPr>
          <p:cNvPr id="86" name="Google Shape;86;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500"/>
              <a:t>Existing fraud detection systems in digital payments are generally rule-based, relying on static thresholds or signatures. They primarily detect fraud based on pre-defined rules and known fraud patterns, which are less effective against new or adaptive fraud methods. Additionally, traditional systems often have latency in flagging suspicious activity, leading to delayed responses and potential financial losses for users. These systems lack the flexibility and intelligence to handle the complex and evolving nature of fraud.</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Existing System Drawbacks</a:t>
            </a:r>
            <a:endParaRPr/>
          </a:p>
        </p:txBody>
      </p:sp>
      <p:sp>
        <p:nvSpPr>
          <p:cNvPr id="92" name="Google Shape;92;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GB" sz="1500">
                <a:solidFill>
                  <a:schemeClr val="dk1"/>
                </a:solidFill>
              </a:rPr>
              <a:t>The major drawbacks of existing UPI fraud detection systems include:</a:t>
            </a:r>
            <a:endParaRPr sz="1500">
              <a:solidFill>
                <a:schemeClr val="dk1"/>
              </a:solidFill>
            </a:endParaRPr>
          </a:p>
          <a:p>
            <a:pPr marL="457200" lvl="0" indent="-323850" algn="l" rtl="0">
              <a:spcBef>
                <a:spcPts val="1200"/>
              </a:spcBef>
              <a:spcAft>
                <a:spcPts val="0"/>
              </a:spcAft>
              <a:buClr>
                <a:schemeClr val="dk1"/>
              </a:buClr>
              <a:buSzPts val="1500"/>
              <a:buChar char="●"/>
            </a:pPr>
            <a:r>
              <a:rPr lang="en-GB" sz="1500" b="1">
                <a:solidFill>
                  <a:schemeClr val="dk1"/>
                </a:solidFill>
              </a:rPr>
              <a:t>Limited Adaptability</a:t>
            </a:r>
            <a:r>
              <a:rPr lang="en-GB" sz="1500">
                <a:solidFill>
                  <a:schemeClr val="dk1"/>
                </a:solidFill>
              </a:rPr>
              <a:t>: Rule-based systems struggle to detect new, sophisticated fraud techniques.</a:t>
            </a:r>
            <a:endParaRPr sz="1500">
              <a:solidFill>
                <a:schemeClr val="dk1"/>
              </a:solidFill>
            </a:endParaRPr>
          </a:p>
          <a:p>
            <a:pPr marL="457200" lvl="0" indent="-323850" algn="l" rtl="0">
              <a:spcBef>
                <a:spcPts val="0"/>
              </a:spcBef>
              <a:spcAft>
                <a:spcPts val="0"/>
              </a:spcAft>
              <a:buClr>
                <a:schemeClr val="dk1"/>
              </a:buClr>
              <a:buSzPts val="1500"/>
              <a:buChar char="●"/>
            </a:pPr>
            <a:r>
              <a:rPr lang="en-GB" sz="1500" b="1">
                <a:solidFill>
                  <a:schemeClr val="dk1"/>
                </a:solidFill>
              </a:rPr>
              <a:t>High False Positives/Negatives</a:t>
            </a:r>
            <a:r>
              <a:rPr lang="en-GB" sz="1500">
                <a:solidFill>
                  <a:schemeClr val="dk1"/>
                </a:solidFill>
              </a:rPr>
              <a:t>: Rigid rules can lead to inaccurate detection.</a:t>
            </a:r>
            <a:endParaRPr sz="1500">
              <a:solidFill>
                <a:schemeClr val="dk1"/>
              </a:solidFill>
            </a:endParaRPr>
          </a:p>
          <a:p>
            <a:pPr marL="457200" lvl="0" indent="-323850" algn="l" rtl="0">
              <a:spcBef>
                <a:spcPts val="0"/>
              </a:spcBef>
              <a:spcAft>
                <a:spcPts val="0"/>
              </a:spcAft>
              <a:buClr>
                <a:schemeClr val="dk1"/>
              </a:buClr>
              <a:buSzPts val="1500"/>
              <a:buChar char="●"/>
            </a:pPr>
            <a:r>
              <a:rPr lang="en-GB" sz="1500" b="1">
                <a:solidFill>
                  <a:schemeClr val="dk1"/>
                </a:solidFill>
              </a:rPr>
              <a:t>Latency</a:t>
            </a:r>
            <a:r>
              <a:rPr lang="en-GB" sz="1500">
                <a:solidFill>
                  <a:schemeClr val="dk1"/>
                </a:solidFill>
              </a:rPr>
              <a:t>: Detection may be delayed, reducing the chance of preventing fraudulent transactions in real-time.</a:t>
            </a:r>
            <a:endParaRPr sz="1500">
              <a:solidFill>
                <a:schemeClr val="dk1"/>
              </a:solidFill>
            </a:endParaRPr>
          </a:p>
          <a:p>
            <a:pPr marL="457200" lvl="0" indent="-323850" algn="l" rtl="0">
              <a:spcBef>
                <a:spcPts val="0"/>
              </a:spcBef>
              <a:spcAft>
                <a:spcPts val="0"/>
              </a:spcAft>
              <a:buClr>
                <a:schemeClr val="dk1"/>
              </a:buClr>
              <a:buSzPts val="1500"/>
              <a:buChar char="●"/>
            </a:pPr>
            <a:r>
              <a:rPr lang="en-GB" sz="1500" b="1">
                <a:solidFill>
                  <a:schemeClr val="dk1"/>
                </a:solidFill>
              </a:rPr>
              <a:t>Scalability Issues</a:t>
            </a:r>
            <a:r>
              <a:rPr lang="en-GB" sz="1500">
                <a:solidFill>
                  <a:schemeClr val="dk1"/>
                </a:solidFill>
              </a:rPr>
              <a:t>: Traditional systems struggle to handle large volumes of UPI transactions effectively.</a:t>
            </a:r>
            <a:endParaRPr sz="1500">
              <a:solidFill>
                <a:schemeClr val="dk1"/>
              </a:solidFill>
            </a:endParaRPr>
          </a:p>
          <a:p>
            <a:pPr marL="0" lvl="0" indent="0" algn="l" rtl="0">
              <a:spcBef>
                <a:spcPts val="1200"/>
              </a:spcBef>
              <a:spcAft>
                <a:spcPts val="0"/>
              </a:spcAft>
              <a:buNone/>
            </a:pPr>
            <a:r>
              <a:rPr lang="en-GB" sz="1500">
                <a:solidFill>
                  <a:schemeClr val="dk1"/>
                </a:solidFill>
              </a:rPr>
              <a:t>Our project aims to address these limitations by implementing a machine learning model that adapts to evolving fraud patterns.</a:t>
            </a:r>
            <a:endParaRPr sz="1500">
              <a:solidFill>
                <a:schemeClr val="dk1"/>
              </a:solidFill>
            </a:endParaRPr>
          </a:p>
          <a:p>
            <a:pPr marL="0" lvl="0" indent="0" algn="l" rtl="0">
              <a:spcBef>
                <a:spcPts val="1200"/>
              </a:spcBef>
              <a:spcAft>
                <a:spcPts val="1200"/>
              </a:spcAft>
              <a:buNone/>
            </a:pPr>
            <a:endParaRPr sz="15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Proposed System</a:t>
            </a:r>
            <a:endParaRPr/>
          </a:p>
        </p:txBody>
      </p:sp>
      <p:sp>
        <p:nvSpPr>
          <p:cNvPr id="98" name="Google Shape;98;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500"/>
              <a:t>Our proposed system leverages machine learning to enhance UPI fraud detection by learning from transaction patterns and adapting to new fraud types. Using Python and Flask, our system processes transaction data in real-time, analyzing multiple features, such as transaction frequency, amounts, and geographic locations, to detect anomalies. The system provides a web-based interface, allowing users to monitor flagged transactions instantly. This approach aims to minimize false positives, improve adaptability, and provide more accurate fraud detection for UPI transactions.</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Literature Survey</a:t>
            </a:r>
            <a:endParaRPr/>
          </a:p>
        </p:txBody>
      </p:sp>
      <p:sp>
        <p:nvSpPr>
          <p:cNvPr id="104" name="Google Shape;104;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a:t>Our literature survey explores recent studies on machine learning models for fraud detection, including Random Forest, Decision Trees, and Neural Networks. Studies indicate that machine learning approaches can significantly reduce fraud detection times and improve accuracy compared to rule-based systems. Techniques such as anomaly detection and supervised learning have proven effective in identifying abnormal transaction patterns. The survey underscores the need for flexible models capable of real-time processing, particularly with UPI transactions growing in complexity and volume.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Architecture</a:t>
            </a:r>
            <a:endParaRPr/>
          </a:p>
        </p:txBody>
      </p:sp>
      <p:sp>
        <p:nvSpPr>
          <p:cNvPr id="110" name="Google Shape;110;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100"/>
              <a:buFont typeface="Arial"/>
              <a:buNone/>
            </a:pPr>
            <a:r>
              <a:rPr lang="en-GB" sz="1500">
                <a:solidFill>
                  <a:schemeClr val="dk1"/>
                </a:solidFill>
              </a:rPr>
              <a:t>Our system architecture includes the following components:</a:t>
            </a:r>
            <a:endParaRPr sz="1500">
              <a:solidFill>
                <a:schemeClr val="dk1"/>
              </a:solidFill>
            </a:endParaRPr>
          </a:p>
          <a:p>
            <a:pPr marL="457200" lvl="0" indent="-323850" algn="l" rtl="0">
              <a:spcBef>
                <a:spcPts val="1200"/>
              </a:spcBef>
              <a:spcAft>
                <a:spcPts val="0"/>
              </a:spcAft>
              <a:buClr>
                <a:schemeClr val="dk1"/>
              </a:buClr>
              <a:buSzPts val="1500"/>
              <a:buAutoNum type="arabicPeriod"/>
            </a:pPr>
            <a:r>
              <a:rPr lang="en-GB" sz="1500" b="1">
                <a:solidFill>
                  <a:schemeClr val="dk1"/>
                </a:solidFill>
              </a:rPr>
              <a:t>Frontend Interface</a:t>
            </a:r>
            <a:r>
              <a:rPr lang="en-GB" sz="1500">
                <a:solidFill>
                  <a:schemeClr val="dk1"/>
                </a:solidFill>
              </a:rPr>
              <a:t>: HTML/CSS-based interface for user interaction.</a:t>
            </a:r>
            <a:endParaRPr sz="1500">
              <a:solidFill>
                <a:schemeClr val="dk1"/>
              </a:solidFill>
            </a:endParaRPr>
          </a:p>
          <a:p>
            <a:pPr marL="457200" lvl="0" indent="-323850" algn="l" rtl="0">
              <a:spcBef>
                <a:spcPts val="0"/>
              </a:spcBef>
              <a:spcAft>
                <a:spcPts val="0"/>
              </a:spcAft>
              <a:buClr>
                <a:schemeClr val="dk1"/>
              </a:buClr>
              <a:buSzPts val="1500"/>
              <a:buAutoNum type="arabicPeriod"/>
            </a:pPr>
            <a:r>
              <a:rPr lang="en-GB" sz="1500" b="1">
                <a:solidFill>
                  <a:schemeClr val="dk1"/>
                </a:solidFill>
              </a:rPr>
              <a:t>Backend</a:t>
            </a:r>
            <a:r>
              <a:rPr lang="en-GB" sz="1500">
                <a:solidFill>
                  <a:schemeClr val="dk1"/>
                </a:solidFill>
              </a:rPr>
              <a:t>: Flask server handling transaction data input and communication with the machine learning model.</a:t>
            </a:r>
            <a:endParaRPr sz="1500">
              <a:solidFill>
                <a:schemeClr val="dk1"/>
              </a:solidFill>
            </a:endParaRPr>
          </a:p>
          <a:p>
            <a:pPr marL="457200" lvl="0" indent="-323850" algn="l" rtl="0">
              <a:spcBef>
                <a:spcPts val="0"/>
              </a:spcBef>
              <a:spcAft>
                <a:spcPts val="0"/>
              </a:spcAft>
              <a:buClr>
                <a:schemeClr val="dk1"/>
              </a:buClr>
              <a:buSzPts val="1500"/>
              <a:buAutoNum type="arabicPeriod"/>
            </a:pPr>
            <a:r>
              <a:rPr lang="en-GB" sz="1500" b="1">
                <a:solidFill>
                  <a:schemeClr val="dk1"/>
                </a:solidFill>
              </a:rPr>
              <a:t>Database</a:t>
            </a:r>
            <a:r>
              <a:rPr lang="en-GB" sz="1500">
                <a:solidFill>
                  <a:schemeClr val="dk1"/>
                </a:solidFill>
              </a:rPr>
              <a:t>: Stores historical transaction data for model training and evaluation.</a:t>
            </a:r>
            <a:endParaRPr sz="1500">
              <a:solidFill>
                <a:schemeClr val="dk1"/>
              </a:solidFill>
            </a:endParaRPr>
          </a:p>
          <a:p>
            <a:pPr marL="457200" lvl="0" indent="-323850" algn="l" rtl="0">
              <a:spcBef>
                <a:spcPts val="0"/>
              </a:spcBef>
              <a:spcAft>
                <a:spcPts val="0"/>
              </a:spcAft>
              <a:buClr>
                <a:schemeClr val="dk1"/>
              </a:buClr>
              <a:buSzPts val="1500"/>
              <a:buAutoNum type="arabicPeriod"/>
            </a:pPr>
            <a:r>
              <a:rPr lang="en-GB" sz="1500" b="1">
                <a:solidFill>
                  <a:schemeClr val="dk1"/>
                </a:solidFill>
              </a:rPr>
              <a:t>Machine Learning Model</a:t>
            </a:r>
            <a:r>
              <a:rPr lang="en-GB" sz="1500">
                <a:solidFill>
                  <a:schemeClr val="dk1"/>
                </a:solidFill>
              </a:rPr>
              <a:t>: Processes transaction features and classifies them as legitimate or suspicious.</a:t>
            </a:r>
            <a:endParaRPr sz="1500">
              <a:solidFill>
                <a:schemeClr val="dk1"/>
              </a:solidFill>
            </a:endParaRPr>
          </a:p>
          <a:p>
            <a:pPr marL="0" lvl="0" indent="0" algn="l" rtl="0">
              <a:spcBef>
                <a:spcPts val="1200"/>
              </a:spcBef>
              <a:spcAft>
                <a:spcPts val="1200"/>
              </a:spcAft>
              <a:buNone/>
            </a:pPr>
            <a:endParaRPr sz="15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Machine Learning Algorithms Overview</a:t>
            </a:r>
            <a:endParaRPr/>
          </a:p>
        </p:txBody>
      </p:sp>
      <p:sp>
        <p:nvSpPr>
          <p:cNvPr id="116" name="Google Shape;116;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23850" algn="l" rtl="0">
              <a:spcBef>
                <a:spcPts val="1200"/>
              </a:spcBef>
              <a:spcAft>
                <a:spcPts val="0"/>
              </a:spcAft>
              <a:buClr>
                <a:schemeClr val="dk1"/>
              </a:buClr>
              <a:buSzPts val="1500"/>
              <a:buChar char="●"/>
            </a:pPr>
            <a:r>
              <a:rPr lang="en-GB" sz="1500">
                <a:solidFill>
                  <a:schemeClr val="dk1"/>
                </a:solidFill>
              </a:rPr>
              <a:t>We implemented four algorithms:</a:t>
            </a:r>
            <a:endParaRPr sz="1500">
              <a:solidFill>
                <a:schemeClr val="dk1"/>
              </a:solidFill>
            </a:endParaRPr>
          </a:p>
          <a:p>
            <a:pPr marL="914400" lvl="1" indent="-323850" algn="l" rtl="0">
              <a:spcBef>
                <a:spcPts val="0"/>
              </a:spcBef>
              <a:spcAft>
                <a:spcPts val="0"/>
              </a:spcAft>
              <a:buClr>
                <a:schemeClr val="dk1"/>
              </a:buClr>
              <a:buSzPts val="1500"/>
              <a:buChar char="○"/>
            </a:pPr>
            <a:r>
              <a:rPr lang="en-GB" sz="1500" b="1">
                <a:solidFill>
                  <a:schemeClr val="dk1"/>
                </a:solidFill>
              </a:rPr>
              <a:t>Random Forest</a:t>
            </a:r>
            <a:r>
              <a:rPr lang="en-GB" sz="1500">
                <a:solidFill>
                  <a:schemeClr val="dk1"/>
                </a:solidFill>
              </a:rPr>
              <a:t>: Uses multiple decision trees for stable, accurate predictions.</a:t>
            </a:r>
            <a:endParaRPr sz="1500">
              <a:solidFill>
                <a:schemeClr val="dk1"/>
              </a:solidFill>
            </a:endParaRPr>
          </a:p>
          <a:p>
            <a:pPr marL="914400" lvl="1" indent="-323850" algn="l" rtl="0">
              <a:spcBef>
                <a:spcPts val="0"/>
              </a:spcBef>
              <a:spcAft>
                <a:spcPts val="0"/>
              </a:spcAft>
              <a:buClr>
                <a:schemeClr val="dk1"/>
              </a:buClr>
              <a:buSzPts val="1500"/>
              <a:buChar char="○"/>
            </a:pPr>
            <a:r>
              <a:rPr lang="en-GB" sz="1500" b="1">
                <a:solidFill>
                  <a:schemeClr val="dk1"/>
                </a:solidFill>
              </a:rPr>
              <a:t>Logistic Regression</a:t>
            </a:r>
            <a:r>
              <a:rPr lang="en-GB" sz="1500">
                <a:solidFill>
                  <a:schemeClr val="dk1"/>
                </a:solidFill>
              </a:rPr>
              <a:t>: A simple yet powerful binary classifier that calculates probabilities.</a:t>
            </a:r>
            <a:endParaRPr sz="1500">
              <a:solidFill>
                <a:schemeClr val="dk1"/>
              </a:solidFill>
            </a:endParaRPr>
          </a:p>
          <a:p>
            <a:pPr marL="914400" lvl="1" indent="-323850" algn="l" rtl="0">
              <a:spcBef>
                <a:spcPts val="0"/>
              </a:spcBef>
              <a:spcAft>
                <a:spcPts val="0"/>
              </a:spcAft>
              <a:buClr>
                <a:schemeClr val="dk1"/>
              </a:buClr>
              <a:buSzPts val="1500"/>
              <a:buChar char="○"/>
            </a:pPr>
            <a:r>
              <a:rPr lang="en-GB" sz="1500" b="1">
                <a:solidFill>
                  <a:schemeClr val="dk1"/>
                </a:solidFill>
              </a:rPr>
              <a:t>Decision Tree</a:t>
            </a:r>
            <a:r>
              <a:rPr lang="en-GB" sz="1500">
                <a:solidFill>
                  <a:schemeClr val="dk1"/>
                </a:solidFill>
              </a:rPr>
              <a:t>: A transparent model making decisions based on data features.</a:t>
            </a:r>
            <a:endParaRPr sz="1500">
              <a:solidFill>
                <a:schemeClr val="dk1"/>
              </a:solidFill>
            </a:endParaRPr>
          </a:p>
          <a:p>
            <a:pPr marL="914400" lvl="1" indent="-323850" algn="l" rtl="0">
              <a:spcBef>
                <a:spcPts val="0"/>
              </a:spcBef>
              <a:spcAft>
                <a:spcPts val="0"/>
              </a:spcAft>
              <a:buClr>
                <a:schemeClr val="dk1"/>
              </a:buClr>
              <a:buSzPts val="1500"/>
              <a:buChar char="○"/>
            </a:pPr>
            <a:r>
              <a:rPr lang="en-GB" sz="1500" b="1">
                <a:solidFill>
                  <a:schemeClr val="dk1"/>
                </a:solidFill>
              </a:rPr>
              <a:t>Support Vector Machine (SVM)</a:t>
            </a:r>
            <a:r>
              <a:rPr lang="en-GB" sz="1500">
                <a:solidFill>
                  <a:schemeClr val="dk1"/>
                </a:solidFill>
              </a:rPr>
              <a:t>: Separates classes by maximizing the margin, useful for complex data.</a:t>
            </a:r>
            <a:endParaRPr sz="1500">
              <a:solidFill>
                <a:schemeClr val="dk1"/>
              </a:solidFill>
            </a:endParaRPr>
          </a:p>
          <a:p>
            <a:pPr marL="0" lvl="0" indent="0" algn="l" rtl="0">
              <a:spcBef>
                <a:spcPts val="1200"/>
              </a:spcBef>
              <a:spcAft>
                <a:spcPts val="1200"/>
              </a:spcAft>
              <a:buNone/>
            </a:pP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Why Random Forest for Fraud Detection?</a:t>
            </a:r>
            <a:endParaRPr/>
          </a:p>
        </p:txBody>
      </p:sp>
      <p:sp>
        <p:nvSpPr>
          <p:cNvPr id="122" name="Google Shape;122;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298450" algn="l" rtl="0">
              <a:spcBef>
                <a:spcPts val="1200"/>
              </a:spcBef>
              <a:spcAft>
                <a:spcPts val="0"/>
              </a:spcAft>
              <a:buClr>
                <a:schemeClr val="dk1"/>
              </a:buClr>
              <a:buSzPts val="1100"/>
              <a:buChar char="●"/>
            </a:pPr>
            <a:r>
              <a:rPr lang="en-GB"/>
              <a:t>Random Forest is effective in handling large, complex datasets with multiple features.</a:t>
            </a:r>
            <a:endParaRPr/>
          </a:p>
          <a:p>
            <a:pPr marL="457200" lvl="0" indent="-298450" algn="l" rtl="0">
              <a:spcBef>
                <a:spcPts val="0"/>
              </a:spcBef>
              <a:spcAft>
                <a:spcPts val="0"/>
              </a:spcAft>
              <a:buClr>
                <a:schemeClr val="dk1"/>
              </a:buClr>
              <a:buSzPts val="1100"/>
              <a:buChar char="●"/>
            </a:pPr>
            <a:r>
              <a:rPr lang="en-GB"/>
              <a:t>Its ensemble method reduces overfitting and improves accuracy, detecting patterns even in imbalanced data.</a:t>
            </a:r>
            <a:endParaRPr/>
          </a:p>
          <a:p>
            <a:pPr marL="457200" lvl="0" indent="-298450" algn="l" rtl="0">
              <a:spcBef>
                <a:spcPts val="0"/>
              </a:spcBef>
              <a:spcAft>
                <a:spcPts val="0"/>
              </a:spcAft>
              <a:buClr>
                <a:schemeClr val="dk1"/>
              </a:buClr>
              <a:buSzPts val="1100"/>
              <a:buChar char="●"/>
            </a:pPr>
            <a:r>
              <a:rPr lang="en-GB"/>
              <a:t>Feature importance in Random Forest helps identify key fraud indicators, supporting transparency and deeper analysis.</a:t>
            </a:r>
            <a:endParaRPr/>
          </a:p>
          <a:p>
            <a:pPr marL="0" lvl="0" indent="0" algn="l" rtl="0">
              <a:spcBef>
                <a:spcPts val="1200"/>
              </a:spcBef>
              <a:spcAft>
                <a:spcPts val="120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Dataset Overview</a:t>
            </a:r>
            <a:endParaRPr/>
          </a:p>
        </p:txBody>
      </p:sp>
      <p:sp>
        <p:nvSpPr>
          <p:cNvPr id="128" name="Google Shape;128;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298450" algn="l" rtl="0">
              <a:spcBef>
                <a:spcPts val="1200"/>
              </a:spcBef>
              <a:spcAft>
                <a:spcPts val="0"/>
              </a:spcAft>
              <a:buClr>
                <a:schemeClr val="dk1"/>
              </a:buClr>
              <a:buSzPts val="1100"/>
              <a:buChar char="●"/>
            </a:pPr>
            <a:r>
              <a:rPr lang="en-GB"/>
              <a:t>The dataset contains labeled UPI transactions, with features like Transaction Amount, Timestamp, User Location, and Device ID.</a:t>
            </a:r>
            <a:endParaRPr/>
          </a:p>
          <a:p>
            <a:pPr marL="457200" lvl="0" indent="-298450" algn="l" rtl="0">
              <a:spcBef>
                <a:spcPts val="0"/>
              </a:spcBef>
              <a:spcAft>
                <a:spcPts val="0"/>
              </a:spcAft>
              <a:buClr>
                <a:schemeClr val="dk1"/>
              </a:buClr>
              <a:buSzPts val="1100"/>
              <a:buChar char="●"/>
            </a:pPr>
            <a:r>
              <a:rPr lang="en-GB"/>
              <a:t>It’s highly imbalanced, as fraud cases are rare.</a:t>
            </a:r>
            <a:endParaRPr/>
          </a:p>
          <a:p>
            <a:pPr marL="457200" lvl="0" indent="-298450" algn="l" rtl="0">
              <a:spcBef>
                <a:spcPts val="0"/>
              </a:spcBef>
              <a:spcAft>
                <a:spcPts val="0"/>
              </a:spcAft>
              <a:buClr>
                <a:schemeClr val="dk1"/>
              </a:buClr>
              <a:buSzPts val="1100"/>
              <a:buChar char="●"/>
            </a:pPr>
            <a:r>
              <a:rPr lang="en-GB"/>
              <a:t>The binary target variable indicates whether each transaction is fraudulent or legitimate, providing the foundation for supervised learning.</a:t>
            </a:r>
            <a:endParaRPr/>
          </a:p>
          <a:p>
            <a:pPr marL="0" lvl="0" indent="0" algn="l" rtl="0">
              <a:spcBef>
                <a:spcPts val="1200"/>
              </a:spcBef>
              <a:spcAft>
                <a:spcPts val="120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Data Preprocessing Steps</a:t>
            </a:r>
            <a:endParaRPr/>
          </a:p>
        </p:txBody>
      </p:sp>
      <p:sp>
        <p:nvSpPr>
          <p:cNvPr id="134" name="Google Shape;134;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298450" algn="l" rtl="0">
              <a:spcBef>
                <a:spcPts val="1200"/>
              </a:spcBef>
              <a:spcAft>
                <a:spcPts val="0"/>
              </a:spcAft>
              <a:buClr>
                <a:schemeClr val="dk1"/>
              </a:buClr>
              <a:buSzPts val="1100"/>
              <a:buChar char="●"/>
            </a:pPr>
            <a:r>
              <a:rPr lang="en-GB"/>
              <a:t>Data cleaning handles missing values and outliers.</a:t>
            </a:r>
            <a:endParaRPr/>
          </a:p>
          <a:p>
            <a:pPr marL="457200" lvl="0" indent="-298450" algn="l" rtl="0">
              <a:spcBef>
                <a:spcPts val="0"/>
              </a:spcBef>
              <a:spcAft>
                <a:spcPts val="0"/>
              </a:spcAft>
              <a:buClr>
                <a:schemeClr val="dk1"/>
              </a:buClr>
              <a:buSzPts val="1100"/>
              <a:buChar char="●"/>
            </a:pPr>
            <a:r>
              <a:rPr lang="en-GB"/>
              <a:t>Feature engineering adds new variables like transaction intervals for deeper insights.</a:t>
            </a:r>
            <a:endParaRPr/>
          </a:p>
          <a:p>
            <a:pPr marL="457200" lvl="0" indent="-298450" algn="l" rtl="0">
              <a:spcBef>
                <a:spcPts val="0"/>
              </a:spcBef>
              <a:spcAft>
                <a:spcPts val="0"/>
              </a:spcAft>
              <a:buClr>
                <a:schemeClr val="dk1"/>
              </a:buClr>
              <a:buSzPts val="1100"/>
              <a:buChar char="●"/>
            </a:pPr>
            <a:r>
              <a:rPr lang="en-GB"/>
              <a:t>Data scaling ensures consistency across algorithms, especially important for models like SVM and Logistic Regression.</a:t>
            </a:r>
            <a:endParaRPr/>
          </a:p>
          <a:p>
            <a:pPr marL="0" lvl="0" indent="0" algn="l" rtl="0">
              <a:spcBef>
                <a:spcPts val="1200"/>
              </a:spcBef>
              <a:spcAft>
                <a:spcPts val="120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Train-Test Split &amp; Cross-Validation</a:t>
            </a:r>
            <a:endParaRPr/>
          </a:p>
        </p:txBody>
      </p:sp>
      <p:sp>
        <p:nvSpPr>
          <p:cNvPr id="140" name="Google Shape;140;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298450" algn="l" rtl="0">
              <a:spcBef>
                <a:spcPts val="1200"/>
              </a:spcBef>
              <a:spcAft>
                <a:spcPts val="0"/>
              </a:spcAft>
              <a:buClr>
                <a:schemeClr val="dk1"/>
              </a:buClr>
              <a:buSzPts val="1100"/>
              <a:buChar char="●"/>
            </a:pPr>
            <a:r>
              <a:rPr lang="en-GB"/>
              <a:t>We split the data 80-20 for training and testing, ensuring enough data to learn and validate.</a:t>
            </a:r>
            <a:endParaRPr/>
          </a:p>
          <a:p>
            <a:pPr marL="457200" lvl="0" indent="-298450" algn="l" rtl="0">
              <a:spcBef>
                <a:spcPts val="0"/>
              </a:spcBef>
              <a:spcAft>
                <a:spcPts val="0"/>
              </a:spcAft>
              <a:buClr>
                <a:schemeClr val="dk1"/>
              </a:buClr>
              <a:buSzPts val="1100"/>
              <a:buChar char="●"/>
            </a:pPr>
            <a:r>
              <a:rPr lang="en-GB"/>
              <a:t>K-fold cross-validation was used to check model robustness, improving accuracy by preventing overfitting on any single data partition.</a:t>
            </a:r>
            <a:endParaRPr/>
          </a:p>
          <a:p>
            <a:pPr marL="0" lvl="0" indent="0" algn="l" rtl="0">
              <a:spcBef>
                <a:spcPts val="1200"/>
              </a:spcBef>
              <a:spcAft>
                <a:spcPts val="120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Random Forest Classifier Implementation</a:t>
            </a:r>
            <a:endParaRPr/>
          </a:p>
        </p:txBody>
      </p:sp>
      <p:sp>
        <p:nvSpPr>
          <p:cNvPr id="146" name="Google Shape;146;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23850" algn="l" rtl="0">
              <a:spcBef>
                <a:spcPts val="1200"/>
              </a:spcBef>
              <a:spcAft>
                <a:spcPts val="0"/>
              </a:spcAft>
              <a:buClr>
                <a:schemeClr val="dk1"/>
              </a:buClr>
              <a:buSzPts val="1500"/>
              <a:buChar char="●"/>
            </a:pPr>
            <a:r>
              <a:rPr lang="en-GB" sz="1500">
                <a:solidFill>
                  <a:schemeClr val="dk1"/>
                </a:solidFill>
              </a:rPr>
              <a:t>Implemented using </a:t>
            </a:r>
            <a:r>
              <a:rPr lang="en-GB" sz="1500">
                <a:solidFill>
                  <a:srgbClr val="188038"/>
                </a:solidFill>
                <a:latin typeface="Roboto Mono"/>
                <a:ea typeface="Roboto Mono"/>
                <a:cs typeface="Roboto Mono"/>
                <a:sym typeface="Roboto Mono"/>
              </a:rPr>
              <a:t>sklearn.ensemble.RandomForestClassifier</a:t>
            </a:r>
            <a:r>
              <a:rPr lang="en-GB" sz="1500">
                <a:solidFill>
                  <a:schemeClr val="dk1"/>
                </a:solidFill>
              </a:rPr>
              <a:t> with parameters like </a:t>
            </a:r>
            <a:r>
              <a:rPr lang="en-GB" sz="1500">
                <a:solidFill>
                  <a:srgbClr val="188038"/>
                </a:solidFill>
                <a:latin typeface="Roboto Mono"/>
                <a:ea typeface="Roboto Mono"/>
                <a:cs typeface="Roboto Mono"/>
                <a:sym typeface="Roboto Mono"/>
              </a:rPr>
              <a:t>n_estimators</a:t>
            </a:r>
            <a:r>
              <a:rPr lang="en-GB" sz="1500">
                <a:solidFill>
                  <a:schemeClr val="dk1"/>
                </a:solidFill>
              </a:rPr>
              <a:t> and </a:t>
            </a:r>
            <a:r>
              <a:rPr lang="en-GB" sz="1500">
                <a:solidFill>
                  <a:srgbClr val="188038"/>
                </a:solidFill>
                <a:latin typeface="Roboto Mono"/>
                <a:ea typeface="Roboto Mono"/>
                <a:cs typeface="Roboto Mono"/>
                <a:sym typeface="Roboto Mono"/>
              </a:rPr>
              <a:t>max_depth</a:t>
            </a:r>
            <a:r>
              <a:rPr lang="en-GB" sz="1500">
                <a:solidFill>
                  <a:schemeClr val="dk1"/>
                </a:solidFill>
              </a:rPr>
              <a:t>.</a:t>
            </a:r>
            <a:endParaRPr sz="1500">
              <a:solidFill>
                <a:schemeClr val="dk1"/>
              </a:solidFill>
            </a:endParaRPr>
          </a:p>
          <a:p>
            <a:pPr marL="457200" lvl="0" indent="-323850" algn="l" rtl="0">
              <a:spcBef>
                <a:spcPts val="0"/>
              </a:spcBef>
              <a:spcAft>
                <a:spcPts val="0"/>
              </a:spcAft>
              <a:buClr>
                <a:schemeClr val="dk1"/>
              </a:buClr>
              <a:buSzPts val="1500"/>
              <a:buChar char="●"/>
            </a:pPr>
            <a:r>
              <a:rPr lang="en-GB" sz="1500">
                <a:solidFill>
                  <a:schemeClr val="dk1"/>
                </a:solidFill>
              </a:rPr>
              <a:t>Chosen for its high accuracy and capability in detecting complex fraud patterns.</a:t>
            </a:r>
            <a:endParaRPr sz="1500">
              <a:solidFill>
                <a:schemeClr val="dk1"/>
              </a:solidFill>
            </a:endParaRPr>
          </a:p>
          <a:p>
            <a:pPr marL="457200" lvl="0" indent="-323850" algn="l" rtl="0">
              <a:spcBef>
                <a:spcPts val="0"/>
              </a:spcBef>
              <a:spcAft>
                <a:spcPts val="0"/>
              </a:spcAft>
              <a:buClr>
                <a:schemeClr val="dk1"/>
              </a:buClr>
              <a:buSzPts val="1500"/>
              <a:buChar char="●"/>
            </a:pPr>
            <a:r>
              <a:rPr lang="en-GB" sz="1500">
                <a:solidFill>
                  <a:schemeClr val="dk1"/>
                </a:solidFill>
              </a:rPr>
              <a:t>Helps in quick decision-making for real-time fraud detection.</a:t>
            </a:r>
            <a:endParaRPr sz="1500">
              <a:solidFill>
                <a:schemeClr val="dk1"/>
              </a:solidFill>
            </a:endParaRPr>
          </a:p>
          <a:p>
            <a:pPr marL="0" lvl="0" indent="0" algn="l" rtl="0">
              <a:spcBef>
                <a:spcPts val="1200"/>
              </a:spcBef>
              <a:spcAft>
                <a:spcPts val="1200"/>
              </a:spcAft>
              <a:buNone/>
            </a:pPr>
            <a:endParaRPr sz="15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Logistic Regression Implementation</a:t>
            </a:r>
            <a:endParaRPr/>
          </a:p>
        </p:txBody>
      </p:sp>
      <p:sp>
        <p:nvSpPr>
          <p:cNvPr id="152" name="Google Shape;152;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23850" algn="l" rtl="0">
              <a:spcBef>
                <a:spcPts val="1200"/>
              </a:spcBef>
              <a:spcAft>
                <a:spcPts val="0"/>
              </a:spcAft>
              <a:buClr>
                <a:schemeClr val="dk1"/>
              </a:buClr>
              <a:buSzPts val="1500"/>
              <a:buChar char="●"/>
            </a:pPr>
            <a:r>
              <a:rPr lang="en-GB" sz="1500">
                <a:solidFill>
                  <a:schemeClr val="dk1"/>
                </a:solidFill>
              </a:rPr>
              <a:t>Implemented using </a:t>
            </a:r>
            <a:r>
              <a:rPr lang="en-GB" sz="1500">
                <a:solidFill>
                  <a:srgbClr val="188038"/>
                </a:solidFill>
                <a:latin typeface="Roboto Mono"/>
                <a:ea typeface="Roboto Mono"/>
                <a:cs typeface="Roboto Mono"/>
                <a:sym typeface="Roboto Mono"/>
              </a:rPr>
              <a:t>sklearn.linear_model.LogisticRegression</a:t>
            </a:r>
            <a:r>
              <a:rPr lang="en-GB" sz="1500">
                <a:solidFill>
                  <a:schemeClr val="dk1"/>
                </a:solidFill>
              </a:rPr>
              <a:t>.</a:t>
            </a:r>
            <a:endParaRPr sz="1500">
              <a:solidFill>
                <a:schemeClr val="dk1"/>
              </a:solidFill>
            </a:endParaRPr>
          </a:p>
          <a:p>
            <a:pPr marL="457200" lvl="0" indent="-323850" algn="l" rtl="0">
              <a:spcBef>
                <a:spcPts val="0"/>
              </a:spcBef>
              <a:spcAft>
                <a:spcPts val="0"/>
              </a:spcAft>
              <a:buClr>
                <a:schemeClr val="dk1"/>
              </a:buClr>
              <a:buSzPts val="1500"/>
              <a:buChar char="●"/>
            </a:pPr>
            <a:r>
              <a:rPr lang="en-GB" sz="1500">
                <a:solidFill>
                  <a:schemeClr val="dk1"/>
                </a:solidFill>
              </a:rPr>
              <a:t>Chosen for its efficiency in binary classification and interpretability in terms of probability scores.</a:t>
            </a:r>
            <a:endParaRPr sz="1500">
              <a:solidFill>
                <a:schemeClr val="dk1"/>
              </a:solidFill>
            </a:endParaRPr>
          </a:p>
          <a:p>
            <a:pPr marL="457200" lvl="0" indent="-323850" algn="l" rtl="0">
              <a:spcBef>
                <a:spcPts val="0"/>
              </a:spcBef>
              <a:spcAft>
                <a:spcPts val="0"/>
              </a:spcAft>
              <a:buClr>
                <a:schemeClr val="dk1"/>
              </a:buClr>
              <a:buSzPts val="1500"/>
              <a:buChar char="●"/>
            </a:pPr>
            <a:r>
              <a:rPr lang="en-GB" sz="1500">
                <a:solidFill>
                  <a:schemeClr val="dk1"/>
                </a:solidFill>
              </a:rPr>
              <a:t>Enables setting probability thresholds, allowing customization of fraud sensitivity levels.</a:t>
            </a:r>
            <a:endParaRPr sz="1500">
              <a:solidFill>
                <a:schemeClr val="dk1"/>
              </a:solidFill>
            </a:endParaRPr>
          </a:p>
          <a:p>
            <a:pPr marL="0" lvl="0" indent="0" algn="l" rtl="0">
              <a:spcBef>
                <a:spcPts val="1200"/>
              </a:spcBef>
              <a:spcAft>
                <a:spcPts val="1200"/>
              </a:spcAft>
              <a:buNone/>
            </a:pPr>
            <a:endParaRPr sz="15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Decision Tree Classifier Implementation</a:t>
            </a:r>
            <a:endParaRPr/>
          </a:p>
        </p:txBody>
      </p:sp>
      <p:sp>
        <p:nvSpPr>
          <p:cNvPr id="158" name="Google Shape;158;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23850" algn="l" rtl="0">
              <a:spcBef>
                <a:spcPts val="1200"/>
              </a:spcBef>
              <a:spcAft>
                <a:spcPts val="0"/>
              </a:spcAft>
              <a:buClr>
                <a:schemeClr val="dk1"/>
              </a:buClr>
              <a:buSzPts val="1500"/>
              <a:buChar char="●"/>
            </a:pPr>
            <a:r>
              <a:rPr lang="en-GB" sz="1500">
                <a:solidFill>
                  <a:schemeClr val="dk1"/>
                </a:solidFill>
              </a:rPr>
              <a:t>Implemented with </a:t>
            </a:r>
            <a:r>
              <a:rPr lang="en-GB" sz="1500">
                <a:solidFill>
                  <a:srgbClr val="188038"/>
                </a:solidFill>
                <a:latin typeface="Roboto Mono"/>
                <a:ea typeface="Roboto Mono"/>
                <a:cs typeface="Roboto Mono"/>
                <a:sym typeface="Roboto Mono"/>
              </a:rPr>
              <a:t>sklearn.tree.DecisionTreeClassifier</a:t>
            </a:r>
            <a:r>
              <a:rPr lang="en-GB" sz="1500">
                <a:solidFill>
                  <a:schemeClr val="dk1"/>
                </a:solidFill>
              </a:rPr>
              <a:t>.</a:t>
            </a:r>
            <a:endParaRPr sz="1500">
              <a:solidFill>
                <a:schemeClr val="dk1"/>
              </a:solidFill>
            </a:endParaRPr>
          </a:p>
          <a:p>
            <a:pPr marL="457200" lvl="0" indent="-323850" algn="l" rtl="0">
              <a:spcBef>
                <a:spcPts val="0"/>
              </a:spcBef>
              <a:spcAft>
                <a:spcPts val="0"/>
              </a:spcAft>
              <a:buClr>
                <a:schemeClr val="dk1"/>
              </a:buClr>
              <a:buSzPts val="1500"/>
              <a:buChar char="●"/>
            </a:pPr>
            <a:r>
              <a:rPr lang="en-GB" sz="1500">
                <a:solidFill>
                  <a:schemeClr val="dk1"/>
                </a:solidFill>
              </a:rPr>
              <a:t>Known for easy visualization and interpretability, helping understand the decision-making process.</a:t>
            </a:r>
            <a:endParaRPr sz="1500">
              <a:solidFill>
                <a:schemeClr val="dk1"/>
              </a:solidFill>
            </a:endParaRPr>
          </a:p>
          <a:p>
            <a:pPr marL="457200" lvl="0" indent="-323850" algn="l" rtl="0">
              <a:spcBef>
                <a:spcPts val="0"/>
              </a:spcBef>
              <a:spcAft>
                <a:spcPts val="0"/>
              </a:spcAft>
              <a:buClr>
                <a:schemeClr val="dk1"/>
              </a:buClr>
              <a:buSzPts val="1500"/>
              <a:buChar char="●"/>
            </a:pPr>
            <a:r>
              <a:rPr lang="en-GB" sz="1500">
                <a:solidFill>
                  <a:schemeClr val="dk1"/>
                </a:solidFill>
              </a:rPr>
              <a:t>Handles non-linear relationships well, which is useful for spotting diverse fraud patterns.</a:t>
            </a:r>
            <a:endParaRPr sz="1500">
              <a:solidFill>
                <a:schemeClr val="dk1"/>
              </a:solidFill>
            </a:endParaRPr>
          </a:p>
          <a:p>
            <a:pPr marL="0" lvl="0" indent="0" algn="l" rtl="0">
              <a:spcBef>
                <a:spcPts val="1200"/>
              </a:spcBef>
              <a:spcAft>
                <a:spcPts val="1200"/>
              </a:spcAft>
              <a:buNone/>
            </a:pPr>
            <a:endParaRPr sz="15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Support Vector Machine (SVM) Implementation</a:t>
            </a:r>
            <a:endParaRPr/>
          </a:p>
        </p:txBody>
      </p:sp>
      <p:sp>
        <p:nvSpPr>
          <p:cNvPr id="164" name="Google Shape;164;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23850" algn="l" rtl="0">
              <a:spcBef>
                <a:spcPts val="1200"/>
              </a:spcBef>
              <a:spcAft>
                <a:spcPts val="0"/>
              </a:spcAft>
              <a:buClr>
                <a:schemeClr val="dk1"/>
              </a:buClr>
              <a:buSzPts val="1500"/>
              <a:buChar char="●"/>
            </a:pPr>
            <a:r>
              <a:rPr lang="en-GB" sz="1500">
                <a:solidFill>
                  <a:schemeClr val="dk1"/>
                </a:solidFill>
              </a:rPr>
              <a:t>Implemented with </a:t>
            </a:r>
            <a:r>
              <a:rPr lang="en-GB" sz="1500">
                <a:solidFill>
                  <a:srgbClr val="188038"/>
                </a:solidFill>
                <a:latin typeface="Roboto Mono"/>
                <a:ea typeface="Roboto Mono"/>
                <a:cs typeface="Roboto Mono"/>
                <a:sym typeface="Roboto Mono"/>
              </a:rPr>
              <a:t>sklearn.svm.SVC</a:t>
            </a:r>
            <a:r>
              <a:rPr lang="en-GB" sz="1500">
                <a:solidFill>
                  <a:schemeClr val="dk1"/>
                </a:solidFill>
              </a:rPr>
              <a:t> with options for kernel, regularization, and gamma tuning.</a:t>
            </a:r>
            <a:endParaRPr sz="1500">
              <a:solidFill>
                <a:schemeClr val="dk1"/>
              </a:solidFill>
            </a:endParaRPr>
          </a:p>
          <a:p>
            <a:pPr marL="457200" lvl="0" indent="-323850" algn="l" rtl="0">
              <a:spcBef>
                <a:spcPts val="0"/>
              </a:spcBef>
              <a:spcAft>
                <a:spcPts val="0"/>
              </a:spcAft>
              <a:buClr>
                <a:schemeClr val="dk1"/>
              </a:buClr>
              <a:buSzPts val="1500"/>
              <a:buChar char="●"/>
            </a:pPr>
            <a:r>
              <a:rPr lang="en-GB" sz="1500">
                <a:solidFill>
                  <a:schemeClr val="dk1"/>
                </a:solidFill>
              </a:rPr>
              <a:t>Effective for binary classification with clear boundaries.</a:t>
            </a:r>
            <a:endParaRPr sz="1500">
              <a:solidFill>
                <a:schemeClr val="dk1"/>
              </a:solidFill>
            </a:endParaRPr>
          </a:p>
          <a:p>
            <a:pPr marL="457200" lvl="0" indent="-323850" algn="l" rtl="0">
              <a:spcBef>
                <a:spcPts val="0"/>
              </a:spcBef>
              <a:spcAft>
                <a:spcPts val="0"/>
              </a:spcAft>
              <a:buClr>
                <a:schemeClr val="dk1"/>
              </a:buClr>
              <a:buSzPts val="1500"/>
              <a:buChar char="●"/>
            </a:pPr>
            <a:r>
              <a:rPr lang="en-GB" sz="1500">
                <a:solidFill>
                  <a:schemeClr val="dk1"/>
                </a:solidFill>
              </a:rPr>
              <a:t>Ideal for complex data with well-separated classes, though less interpretable than trees.</a:t>
            </a:r>
            <a:endParaRPr sz="1500">
              <a:solidFill>
                <a:schemeClr val="dk1"/>
              </a:solidFill>
            </a:endParaRPr>
          </a:p>
          <a:p>
            <a:pPr marL="0" lvl="0" indent="0" algn="l" rtl="0">
              <a:spcBef>
                <a:spcPts val="1200"/>
              </a:spcBef>
              <a:spcAft>
                <a:spcPts val="1200"/>
              </a:spcAft>
              <a:buNone/>
            </a:pPr>
            <a:endParaRPr sz="15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Comparison of All Models</a:t>
            </a:r>
            <a:endParaRPr/>
          </a:p>
        </p:txBody>
      </p:sp>
      <p:sp>
        <p:nvSpPr>
          <p:cNvPr id="170" name="Google Shape;170;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23850" algn="l" rtl="0">
              <a:spcBef>
                <a:spcPts val="1200"/>
              </a:spcBef>
              <a:spcAft>
                <a:spcPts val="0"/>
              </a:spcAft>
              <a:buClr>
                <a:schemeClr val="dk1"/>
              </a:buClr>
              <a:buSzPts val="1500"/>
              <a:buChar char="●"/>
            </a:pPr>
            <a:r>
              <a:rPr lang="en-GB" sz="1500" b="1">
                <a:solidFill>
                  <a:schemeClr val="dk1"/>
                </a:solidFill>
              </a:rPr>
              <a:t>Summary Table</a:t>
            </a:r>
            <a:r>
              <a:rPr lang="en-GB" sz="1500">
                <a:solidFill>
                  <a:schemeClr val="dk1"/>
                </a:solidFill>
              </a:rPr>
              <a:t>:</a:t>
            </a:r>
            <a:endParaRPr sz="1500">
              <a:solidFill>
                <a:schemeClr val="dk1"/>
              </a:solidFill>
            </a:endParaRPr>
          </a:p>
          <a:p>
            <a:pPr marL="914400" lvl="1" indent="-323850" algn="l" rtl="0">
              <a:spcBef>
                <a:spcPts val="0"/>
              </a:spcBef>
              <a:spcAft>
                <a:spcPts val="0"/>
              </a:spcAft>
              <a:buClr>
                <a:schemeClr val="dk1"/>
              </a:buClr>
              <a:buSzPts val="1500"/>
              <a:buChar char="○"/>
            </a:pPr>
            <a:r>
              <a:rPr lang="en-GB" sz="1500">
                <a:solidFill>
                  <a:schemeClr val="dk1"/>
                </a:solidFill>
              </a:rPr>
              <a:t>A table summarizes accuracy, precision, recall, F1, and ROC-AUC for each model.</a:t>
            </a:r>
            <a:endParaRPr sz="1500">
              <a:solidFill>
                <a:schemeClr val="dk1"/>
              </a:solidFill>
            </a:endParaRPr>
          </a:p>
          <a:p>
            <a:pPr marL="914400" lvl="1" indent="-323850" algn="l" rtl="0">
              <a:spcBef>
                <a:spcPts val="0"/>
              </a:spcBef>
              <a:spcAft>
                <a:spcPts val="0"/>
              </a:spcAft>
              <a:buClr>
                <a:schemeClr val="dk1"/>
              </a:buClr>
              <a:buSzPts val="1500"/>
              <a:buChar char="○"/>
            </a:pPr>
            <a:r>
              <a:rPr lang="en-GB" sz="1500">
                <a:solidFill>
                  <a:schemeClr val="dk1"/>
                </a:solidFill>
              </a:rPr>
              <a:t>Random Forest may emerge as the preferred model due to balanced performance across metrics.</a:t>
            </a:r>
            <a:endParaRPr sz="1500">
              <a:solidFill>
                <a:schemeClr val="dk1"/>
              </a:solidFill>
            </a:endParaRPr>
          </a:p>
          <a:p>
            <a:pPr marL="914400" lvl="1" indent="-323850" algn="l" rtl="0">
              <a:spcBef>
                <a:spcPts val="0"/>
              </a:spcBef>
              <a:spcAft>
                <a:spcPts val="0"/>
              </a:spcAft>
              <a:buClr>
                <a:schemeClr val="dk1"/>
              </a:buClr>
              <a:buSzPts val="1500"/>
              <a:buChar char="○"/>
            </a:pPr>
            <a:r>
              <a:rPr lang="en-GB" sz="1500">
                <a:solidFill>
                  <a:schemeClr val="dk1"/>
                </a:solidFill>
              </a:rPr>
              <a:t>Each model has strengths; Random Forest generally offers the best trade-off for fraud detection.</a:t>
            </a:r>
            <a:endParaRPr sz="1500">
              <a:solidFill>
                <a:schemeClr val="dk1"/>
              </a:solidFill>
            </a:endParaRPr>
          </a:p>
          <a:p>
            <a:pPr marL="0" lvl="0" indent="0" algn="l" rtl="0">
              <a:spcBef>
                <a:spcPts val="1200"/>
              </a:spcBef>
              <a:spcAft>
                <a:spcPts val="1200"/>
              </a:spcAft>
              <a:buNone/>
            </a:pPr>
            <a:endParaRPr sz="15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Fraud Detection Pipeline</a:t>
            </a:r>
            <a:endParaRPr/>
          </a:p>
        </p:txBody>
      </p:sp>
      <p:sp>
        <p:nvSpPr>
          <p:cNvPr id="176" name="Google Shape;176;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23850" algn="l" rtl="0">
              <a:spcBef>
                <a:spcPts val="1200"/>
              </a:spcBef>
              <a:spcAft>
                <a:spcPts val="0"/>
              </a:spcAft>
              <a:buClr>
                <a:schemeClr val="dk1"/>
              </a:buClr>
              <a:buSzPts val="1500"/>
              <a:buChar char="●"/>
            </a:pPr>
            <a:r>
              <a:rPr lang="en-GB" sz="1500" b="1">
                <a:solidFill>
                  <a:schemeClr val="dk1"/>
                </a:solidFill>
              </a:rPr>
              <a:t>Pipeline</a:t>
            </a:r>
            <a:r>
              <a:rPr lang="en-GB" sz="1500">
                <a:solidFill>
                  <a:schemeClr val="dk1"/>
                </a:solidFill>
              </a:rPr>
              <a:t>:</a:t>
            </a:r>
            <a:endParaRPr sz="1500">
              <a:solidFill>
                <a:schemeClr val="dk1"/>
              </a:solidFill>
            </a:endParaRPr>
          </a:p>
          <a:p>
            <a:pPr marL="914400" lvl="1" indent="-323850" algn="l" rtl="0">
              <a:spcBef>
                <a:spcPts val="0"/>
              </a:spcBef>
              <a:spcAft>
                <a:spcPts val="0"/>
              </a:spcAft>
              <a:buClr>
                <a:schemeClr val="dk1"/>
              </a:buClr>
              <a:buSzPts val="1500"/>
              <a:buChar char="○"/>
            </a:pPr>
            <a:r>
              <a:rPr lang="en-GB" sz="1500">
                <a:solidFill>
                  <a:schemeClr val="dk1"/>
                </a:solidFill>
              </a:rPr>
              <a:t>Data Preprocessing → Feature Engineering → Model Training → Evaluation → Real-Time Deployment.</a:t>
            </a:r>
            <a:endParaRPr sz="1500">
              <a:solidFill>
                <a:schemeClr val="dk1"/>
              </a:solidFill>
            </a:endParaRPr>
          </a:p>
          <a:p>
            <a:pPr marL="914400" lvl="1" indent="-323850" algn="l" rtl="0">
              <a:spcBef>
                <a:spcPts val="0"/>
              </a:spcBef>
              <a:spcAft>
                <a:spcPts val="0"/>
              </a:spcAft>
              <a:buClr>
                <a:schemeClr val="dk1"/>
              </a:buClr>
              <a:buSzPts val="1500"/>
              <a:buChar char="○"/>
            </a:pPr>
            <a:r>
              <a:rPr lang="en-GB" sz="1500">
                <a:solidFill>
                  <a:schemeClr val="dk1"/>
                </a:solidFill>
              </a:rPr>
              <a:t>Real-time deployment integrates the model with UPI systems to detect fraud before transactions complete.</a:t>
            </a:r>
            <a:endParaRPr sz="1500">
              <a:solidFill>
                <a:schemeClr val="dk1"/>
              </a:solidFill>
            </a:endParaRPr>
          </a:p>
          <a:p>
            <a:pPr marL="0" lvl="0" indent="0" algn="l" rtl="0">
              <a:spcBef>
                <a:spcPts val="1200"/>
              </a:spcBef>
              <a:spcAft>
                <a:spcPts val="1200"/>
              </a:spcAft>
              <a:buNone/>
            </a:pPr>
            <a:endParaRPr sz="15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Challenges &amp; Limitations</a:t>
            </a:r>
            <a:endParaRPr/>
          </a:p>
        </p:txBody>
      </p:sp>
      <p:sp>
        <p:nvSpPr>
          <p:cNvPr id="182" name="Google Shape;182;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23850" algn="l" rtl="0">
              <a:spcBef>
                <a:spcPts val="1200"/>
              </a:spcBef>
              <a:spcAft>
                <a:spcPts val="0"/>
              </a:spcAft>
              <a:buClr>
                <a:schemeClr val="dk1"/>
              </a:buClr>
              <a:buSzPts val="1500"/>
              <a:buChar char="●"/>
            </a:pPr>
            <a:r>
              <a:rPr lang="en-GB" sz="1500" b="1">
                <a:solidFill>
                  <a:schemeClr val="dk1"/>
                </a:solidFill>
              </a:rPr>
              <a:t>Challenges</a:t>
            </a:r>
            <a:r>
              <a:rPr lang="en-GB" sz="1500">
                <a:solidFill>
                  <a:schemeClr val="dk1"/>
                </a:solidFill>
              </a:rPr>
              <a:t>:</a:t>
            </a:r>
            <a:endParaRPr sz="1500">
              <a:solidFill>
                <a:schemeClr val="dk1"/>
              </a:solidFill>
            </a:endParaRPr>
          </a:p>
          <a:p>
            <a:pPr marL="914400" lvl="1" indent="-323850" algn="l" rtl="0">
              <a:spcBef>
                <a:spcPts val="0"/>
              </a:spcBef>
              <a:spcAft>
                <a:spcPts val="0"/>
              </a:spcAft>
              <a:buClr>
                <a:schemeClr val="dk1"/>
              </a:buClr>
              <a:buSzPts val="1500"/>
              <a:buChar char="○"/>
            </a:pPr>
            <a:r>
              <a:rPr lang="en-GB" sz="1500">
                <a:solidFill>
                  <a:schemeClr val="dk1"/>
                </a:solidFill>
              </a:rPr>
              <a:t>Imbalanced datasets make fraud rare, complicating detection.</a:t>
            </a:r>
            <a:endParaRPr sz="1500">
              <a:solidFill>
                <a:schemeClr val="dk1"/>
              </a:solidFill>
            </a:endParaRPr>
          </a:p>
          <a:p>
            <a:pPr marL="914400" lvl="1" indent="-323850" algn="l" rtl="0">
              <a:spcBef>
                <a:spcPts val="0"/>
              </a:spcBef>
              <a:spcAft>
                <a:spcPts val="0"/>
              </a:spcAft>
              <a:buClr>
                <a:schemeClr val="dk1"/>
              </a:buClr>
              <a:buSzPts val="1500"/>
              <a:buChar char="○"/>
            </a:pPr>
            <a:r>
              <a:rPr lang="en-GB" sz="1500">
                <a:solidFill>
                  <a:schemeClr val="dk1"/>
                </a:solidFill>
              </a:rPr>
              <a:t>Real-time needs fast model inference.</a:t>
            </a:r>
            <a:endParaRPr sz="1500">
              <a:solidFill>
                <a:schemeClr val="dk1"/>
              </a:solidFill>
            </a:endParaRPr>
          </a:p>
          <a:p>
            <a:pPr marL="457200" lvl="0" indent="-323850" algn="l" rtl="0">
              <a:spcBef>
                <a:spcPts val="0"/>
              </a:spcBef>
              <a:spcAft>
                <a:spcPts val="0"/>
              </a:spcAft>
              <a:buClr>
                <a:schemeClr val="dk1"/>
              </a:buClr>
              <a:buSzPts val="1500"/>
              <a:buChar char="●"/>
            </a:pPr>
            <a:r>
              <a:rPr lang="en-GB" sz="1500" b="1">
                <a:solidFill>
                  <a:schemeClr val="dk1"/>
                </a:solidFill>
              </a:rPr>
              <a:t>Limitations</a:t>
            </a:r>
            <a:r>
              <a:rPr lang="en-GB" sz="1500">
                <a:solidFill>
                  <a:schemeClr val="dk1"/>
                </a:solidFill>
              </a:rPr>
              <a:t>:</a:t>
            </a:r>
            <a:endParaRPr sz="1500">
              <a:solidFill>
                <a:schemeClr val="dk1"/>
              </a:solidFill>
            </a:endParaRPr>
          </a:p>
          <a:p>
            <a:pPr marL="914400" lvl="1" indent="-323850" algn="l" rtl="0">
              <a:spcBef>
                <a:spcPts val="0"/>
              </a:spcBef>
              <a:spcAft>
                <a:spcPts val="0"/>
              </a:spcAft>
              <a:buClr>
                <a:schemeClr val="dk1"/>
              </a:buClr>
              <a:buSzPts val="1500"/>
              <a:buChar char="○"/>
            </a:pPr>
            <a:r>
              <a:rPr lang="en-GB" sz="1500">
                <a:solidFill>
                  <a:schemeClr val="dk1"/>
                </a:solidFill>
              </a:rPr>
              <a:t>False positives inconvenience users; continuous model updates are needed to counter evolving fraud tactics.</a:t>
            </a:r>
            <a:endParaRPr sz="1500">
              <a:solidFill>
                <a:schemeClr val="dk1"/>
              </a:solidFill>
            </a:endParaRPr>
          </a:p>
          <a:p>
            <a:pPr marL="0" lvl="0" indent="0" algn="l" rtl="0">
              <a:spcBef>
                <a:spcPts val="1200"/>
              </a:spcBef>
              <a:spcAft>
                <a:spcPts val="1200"/>
              </a:spcAft>
              <a:buNone/>
            </a:pPr>
            <a:endParaRPr sz="15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Future Scope</a:t>
            </a:r>
            <a:endParaRPr/>
          </a:p>
        </p:txBody>
      </p:sp>
      <p:sp>
        <p:nvSpPr>
          <p:cNvPr id="188" name="Google Shape;188;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23850" algn="l" rtl="0">
              <a:spcBef>
                <a:spcPts val="1200"/>
              </a:spcBef>
              <a:spcAft>
                <a:spcPts val="0"/>
              </a:spcAft>
              <a:buClr>
                <a:schemeClr val="dk1"/>
              </a:buClr>
              <a:buSzPts val="1500"/>
              <a:buChar char="●"/>
            </a:pPr>
            <a:r>
              <a:rPr lang="en-GB" sz="1500" b="1">
                <a:solidFill>
                  <a:schemeClr val="dk1"/>
                </a:solidFill>
              </a:rPr>
              <a:t>Enhancements</a:t>
            </a:r>
            <a:r>
              <a:rPr lang="en-GB" sz="1500">
                <a:solidFill>
                  <a:schemeClr val="dk1"/>
                </a:solidFill>
              </a:rPr>
              <a:t>:</a:t>
            </a:r>
            <a:endParaRPr sz="1500">
              <a:solidFill>
                <a:schemeClr val="dk1"/>
              </a:solidFill>
            </a:endParaRPr>
          </a:p>
          <a:p>
            <a:pPr marL="914400" lvl="1" indent="-323850" algn="l" rtl="0">
              <a:spcBef>
                <a:spcPts val="0"/>
              </a:spcBef>
              <a:spcAft>
                <a:spcPts val="0"/>
              </a:spcAft>
              <a:buClr>
                <a:schemeClr val="dk1"/>
              </a:buClr>
              <a:buSzPts val="1500"/>
              <a:buChar char="○"/>
            </a:pPr>
            <a:r>
              <a:rPr lang="en-GB" sz="1500">
                <a:solidFill>
                  <a:schemeClr val="dk1"/>
                </a:solidFill>
              </a:rPr>
              <a:t>Potential to explore neural networks or hybrid models.</a:t>
            </a:r>
            <a:endParaRPr sz="1500">
              <a:solidFill>
                <a:schemeClr val="dk1"/>
              </a:solidFill>
            </a:endParaRPr>
          </a:p>
          <a:p>
            <a:pPr marL="914400" lvl="1" indent="-323850" algn="l" rtl="0">
              <a:spcBef>
                <a:spcPts val="0"/>
              </a:spcBef>
              <a:spcAft>
                <a:spcPts val="0"/>
              </a:spcAft>
              <a:buClr>
                <a:schemeClr val="dk1"/>
              </a:buClr>
              <a:buSzPts val="1500"/>
              <a:buChar char="○"/>
            </a:pPr>
            <a:r>
              <a:rPr lang="en-GB" sz="1500">
                <a:solidFill>
                  <a:schemeClr val="dk1"/>
                </a:solidFill>
              </a:rPr>
              <a:t>Continuous updates and new fraud features to improve long-term efficacy.</a:t>
            </a:r>
            <a:endParaRPr sz="1500">
              <a:solidFill>
                <a:schemeClr val="dk1"/>
              </a:solidFill>
            </a:endParaRPr>
          </a:p>
          <a:p>
            <a:pPr marL="457200" lvl="0" indent="-323850" algn="l" rtl="0">
              <a:spcBef>
                <a:spcPts val="0"/>
              </a:spcBef>
              <a:spcAft>
                <a:spcPts val="0"/>
              </a:spcAft>
              <a:buClr>
                <a:schemeClr val="dk1"/>
              </a:buClr>
              <a:buSzPts val="1500"/>
              <a:buChar char="●"/>
            </a:pPr>
            <a:r>
              <a:rPr lang="en-GB" sz="1500" b="1">
                <a:solidFill>
                  <a:schemeClr val="dk1"/>
                </a:solidFill>
              </a:rPr>
              <a:t>Real-Time Optimization</a:t>
            </a:r>
            <a:r>
              <a:rPr lang="en-GB" sz="1500">
                <a:solidFill>
                  <a:schemeClr val="dk1"/>
                </a:solidFill>
              </a:rPr>
              <a:t>:</a:t>
            </a:r>
            <a:endParaRPr sz="1500">
              <a:solidFill>
                <a:schemeClr val="dk1"/>
              </a:solidFill>
            </a:endParaRPr>
          </a:p>
          <a:p>
            <a:pPr marL="914400" lvl="1" indent="-323850" algn="l" rtl="0">
              <a:spcBef>
                <a:spcPts val="0"/>
              </a:spcBef>
              <a:spcAft>
                <a:spcPts val="0"/>
              </a:spcAft>
              <a:buClr>
                <a:schemeClr val="dk1"/>
              </a:buClr>
              <a:buSzPts val="1500"/>
              <a:buChar char="○"/>
            </a:pPr>
            <a:r>
              <a:rPr lang="en-GB" sz="1500">
                <a:solidFill>
                  <a:schemeClr val="dk1"/>
                </a:solidFill>
              </a:rPr>
              <a:t>Improve detection speed for seamless UPI integration.</a:t>
            </a:r>
            <a:endParaRPr sz="1500">
              <a:solidFill>
                <a:schemeClr val="dk1"/>
              </a:solidFill>
            </a:endParaRPr>
          </a:p>
          <a:p>
            <a:pPr marL="0" lvl="0" indent="0" algn="l" rtl="0">
              <a:spcBef>
                <a:spcPts val="1200"/>
              </a:spcBef>
              <a:spcAft>
                <a:spcPts val="1200"/>
              </a:spcAft>
              <a:buNone/>
            </a:pPr>
            <a:endParaRPr sz="15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Conclusion</a:t>
            </a:r>
            <a:endParaRPr/>
          </a:p>
        </p:txBody>
      </p:sp>
      <p:sp>
        <p:nvSpPr>
          <p:cNvPr id="194" name="Google Shape;194;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23850" algn="l" rtl="0">
              <a:spcBef>
                <a:spcPts val="1200"/>
              </a:spcBef>
              <a:spcAft>
                <a:spcPts val="0"/>
              </a:spcAft>
              <a:buClr>
                <a:schemeClr val="dk1"/>
              </a:buClr>
              <a:buSzPts val="1500"/>
              <a:buChar char="●"/>
            </a:pPr>
            <a:r>
              <a:rPr lang="en-GB" sz="1500" b="1">
                <a:solidFill>
                  <a:schemeClr val="dk1"/>
                </a:solidFill>
              </a:rPr>
              <a:t>Key Points</a:t>
            </a:r>
            <a:r>
              <a:rPr lang="en-GB" sz="1500">
                <a:solidFill>
                  <a:schemeClr val="dk1"/>
                </a:solidFill>
              </a:rPr>
              <a:t>:</a:t>
            </a:r>
            <a:endParaRPr sz="1500">
              <a:solidFill>
                <a:schemeClr val="dk1"/>
              </a:solidFill>
            </a:endParaRPr>
          </a:p>
          <a:p>
            <a:pPr marL="914400" lvl="1" indent="-323850" algn="l" rtl="0">
              <a:spcBef>
                <a:spcPts val="0"/>
              </a:spcBef>
              <a:spcAft>
                <a:spcPts val="0"/>
              </a:spcAft>
              <a:buClr>
                <a:schemeClr val="dk1"/>
              </a:buClr>
              <a:buSzPts val="1500"/>
              <a:buChar char="○"/>
            </a:pPr>
            <a:r>
              <a:rPr lang="en-GB" sz="1500">
                <a:solidFill>
                  <a:schemeClr val="dk1"/>
                </a:solidFill>
              </a:rPr>
              <a:t>Random Forest shows strong performance, balancing accuracy with interpretability.</a:t>
            </a:r>
            <a:endParaRPr sz="1500">
              <a:solidFill>
                <a:schemeClr val="dk1"/>
              </a:solidFill>
            </a:endParaRPr>
          </a:p>
          <a:p>
            <a:pPr marL="914400" lvl="1" indent="-323850" algn="l" rtl="0">
              <a:spcBef>
                <a:spcPts val="0"/>
              </a:spcBef>
              <a:spcAft>
                <a:spcPts val="0"/>
              </a:spcAft>
              <a:buClr>
                <a:schemeClr val="dk1"/>
              </a:buClr>
              <a:buSzPts val="1500"/>
              <a:buChar char="○"/>
            </a:pPr>
            <a:r>
              <a:rPr lang="en-GB" sz="1500">
                <a:solidFill>
                  <a:schemeClr val="dk1"/>
                </a:solidFill>
              </a:rPr>
              <a:t>Machine learning models bring scalability and real-time potential to fraud detection.</a:t>
            </a:r>
            <a:endParaRPr sz="1500">
              <a:solidFill>
                <a:schemeClr val="dk1"/>
              </a:solidFill>
            </a:endParaRPr>
          </a:p>
          <a:p>
            <a:pPr marL="457200" lvl="0" indent="-323850" algn="l" rtl="0">
              <a:spcBef>
                <a:spcPts val="0"/>
              </a:spcBef>
              <a:spcAft>
                <a:spcPts val="0"/>
              </a:spcAft>
              <a:buClr>
                <a:schemeClr val="dk1"/>
              </a:buClr>
              <a:buSzPts val="1500"/>
              <a:buChar char="●"/>
            </a:pPr>
            <a:r>
              <a:rPr lang="en-GB" sz="1500" b="1">
                <a:solidFill>
                  <a:schemeClr val="dk1"/>
                </a:solidFill>
              </a:rPr>
              <a:t>Final Thought</a:t>
            </a:r>
            <a:r>
              <a:rPr lang="en-GB" sz="1500">
                <a:solidFill>
                  <a:schemeClr val="dk1"/>
                </a:solidFill>
              </a:rPr>
              <a:t>:</a:t>
            </a:r>
            <a:endParaRPr sz="1500">
              <a:solidFill>
                <a:schemeClr val="dk1"/>
              </a:solidFill>
            </a:endParaRPr>
          </a:p>
          <a:p>
            <a:pPr marL="914400" lvl="1" indent="-323850" algn="l" rtl="0">
              <a:spcBef>
                <a:spcPts val="0"/>
              </a:spcBef>
              <a:spcAft>
                <a:spcPts val="0"/>
              </a:spcAft>
              <a:buClr>
                <a:schemeClr val="dk1"/>
              </a:buClr>
              <a:buSzPts val="1500"/>
              <a:buChar char="○"/>
            </a:pPr>
            <a:r>
              <a:rPr lang="en-GB" sz="1500">
                <a:solidFill>
                  <a:schemeClr val="dk1"/>
                </a:solidFill>
              </a:rPr>
              <a:t>The project underscores the value of AI in securing digital financial systems like UPI.</a:t>
            </a:r>
            <a:endParaRPr sz="1500">
              <a:solidFill>
                <a:schemeClr val="dk1"/>
              </a:solidFill>
            </a:endParaRPr>
          </a:p>
          <a:p>
            <a:pPr marL="0" lvl="0" indent="0" algn="l" rtl="0">
              <a:spcBef>
                <a:spcPts val="1200"/>
              </a:spcBef>
              <a:spcAft>
                <a:spcPts val="1200"/>
              </a:spcAft>
              <a:buNone/>
            </a:pPr>
            <a:endParaRPr sz="15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1207</Words>
  <Application>Microsoft Office PowerPoint</Application>
  <PresentationFormat>On-screen Show (16:9)</PresentationFormat>
  <Paragraphs>98</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Roboto Mono</vt:lpstr>
      <vt:lpstr>Arial</vt:lpstr>
      <vt:lpstr>Simple Light</vt:lpstr>
      <vt:lpstr>UPI FRAUD DETECTION USING MACHINE LEARNING</vt:lpstr>
      <vt:lpstr>PowerPoint Presentation</vt:lpstr>
      <vt:lpstr>Introduction to UPI Fraud Detection</vt:lpstr>
      <vt:lpstr>Introduction to UPI Fraud Detection</vt:lpstr>
      <vt:lpstr>Project Objectives</vt:lpstr>
      <vt:lpstr>Existing System</vt:lpstr>
      <vt:lpstr>Existing System Drawbacks</vt:lpstr>
      <vt:lpstr>Proposed System</vt:lpstr>
      <vt:lpstr>Literature Survey</vt:lpstr>
      <vt:lpstr>Architecture</vt:lpstr>
      <vt:lpstr>Machine Learning Algorithms Overview</vt:lpstr>
      <vt:lpstr>Why Random Forest for Fraud Detection?</vt:lpstr>
      <vt:lpstr>Dataset Overview</vt:lpstr>
      <vt:lpstr>Data Preprocessing Steps</vt:lpstr>
      <vt:lpstr>Train-Test Split &amp; Cross-Validation</vt:lpstr>
      <vt:lpstr>Random Forest Classifier Implementation</vt:lpstr>
      <vt:lpstr>Logistic Regression Implementation</vt:lpstr>
      <vt:lpstr>Decision Tree Classifier Implementation</vt:lpstr>
      <vt:lpstr>Support Vector Machine (SVM) Implementation</vt:lpstr>
      <vt:lpstr>Comparison of All Models</vt:lpstr>
      <vt:lpstr>Fraud Detection Pipeline</vt:lpstr>
      <vt:lpstr>Challenges &amp; Limitations</vt:lpstr>
      <vt:lpstr>Future Scope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UPI FRAUD DETECTION USING MACHINE LEARNING</dc:title>
  <cp:lastModifiedBy>ACER</cp:lastModifiedBy>
  <cp:revision>1</cp:revision>
  <dcterms:modified xsi:type="dcterms:W3CDTF">2026-02-18T12:50:05Z</dcterms:modified>
</cp:coreProperties>
</file>